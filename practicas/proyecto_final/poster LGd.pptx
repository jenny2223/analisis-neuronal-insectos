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224000" cy="20104100"/>
  <p:notesSz cx="142240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152" y="-32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800" y="6232271"/>
            <a:ext cx="12090400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3600" y="11258296"/>
            <a:ext cx="995680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120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536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65"/>
            <a:ext cx="14220190" cy="2104390"/>
          </a:xfrm>
          <a:custGeom>
            <a:avLst/>
            <a:gdLst/>
            <a:ahLst/>
            <a:cxnLst/>
            <a:rect l="l" t="t" r="r" b="b"/>
            <a:pathLst>
              <a:path w="14220190" h="2104390">
                <a:moveTo>
                  <a:pt x="14219753" y="0"/>
                </a:moveTo>
                <a:lnTo>
                  <a:pt x="0" y="0"/>
                </a:lnTo>
                <a:lnTo>
                  <a:pt x="0" y="2104265"/>
                </a:lnTo>
                <a:lnTo>
                  <a:pt x="7109876" y="2104265"/>
                </a:lnTo>
                <a:lnTo>
                  <a:pt x="14219753" y="2104265"/>
                </a:lnTo>
                <a:lnTo>
                  <a:pt x="14219753" y="0"/>
                </a:lnTo>
                <a:close/>
              </a:path>
            </a:pathLst>
          </a:custGeom>
          <a:solidFill>
            <a:srgbClr val="1E4D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4946" y="230451"/>
            <a:ext cx="4323080" cy="655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5205" y="7257999"/>
            <a:ext cx="6399530" cy="11381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6160" y="18696814"/>
            <a:ext cx="455168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120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4128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4946" y="298450"/>
            <a:ext cx="13155530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ES" sz="2800" dirty="0"/>
              <a:t>Respuesta del área visual </a:t>
            </a:r>
            <a:r>
              <a:rPr lang="es-ES" sz="2800" dirty="0" err="1"/>
              <a:t>LGd</a:t>
            </a:r>
            <a:r>
              <a:rPr lang="es-ES" sz="2800" dirty="0"/>
              <a:t> en ratones a estímulos de diferente frecuencia temporal </a:t>
            </a:r>
            <a:endParaRPr sz="28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44946" y="924712"/>
            <a:ext cx="773747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00" i="1" dirty="0" err="1">
                <a:solidFill>
                  <a:srgbClr val="A8C2D0"/>
                </a:solidFill>
                <a:latin typeface="Calibri"/>
                <a:cs typeface="Calibri"/>
              </a:rPr>
              <a:t>LGd</a:t>
            </a:r>
            <a:r>
              <a:rPr lang="es-ES" sz="1500" i="1" dirty="0">
                <a:solidFill>
                  <a:srgbClr val="A8C2D0"/>
                </a:solidFill>
                <a:latin typeface="Calibri"/>
                <a:cs typeface="Calibri"/>
              </a:rPr>
              <a:t> mostró tendencia de respuesta a favor de 15 Hz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773" y="1251545"/>
            <a:ext cx="3427095" cy="67945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lang="es-ES" sz="1700" dirty="0">
                <a:solidFill>
                  <a:srgbClr val="FFFFFF"/>
                </a:solidFill>
                <a:latin typeface="Calibri"/>
                <a:cs typeface="Calibri"/>
              </a:rPr>
              <a:t>Jenny Serna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7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ES" sz="1700" dirty="0">
                <a:solidFill>
                  <a:srgbClr val="FFFFFF"/>
                </a:solidFill>
                <a:latin typeface="Calibri"/>
                <a:cs typeface="Calibri"/>
              </a:rPr>
              <a:t>Carol Corrales</a:t>
            </a:r>
            <a:endParaRPr sz="1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993140" algn="l"/>
                <a:tab pos="1170940" algn="l"/>
                <a:tab pos="2025650" algn="l"/>
                <a:tab pos="2202815" algn="l"/>
              </a:tabLst>
            </a:pPr>
            <a:r>
              <a:rPr sz="1500" dirty="0">
                <a:solidFill>
                  <a:srgbClr val="A8C2D0"/>
                </a:solidFill>
                <a:latin typeface="Calibri"/>
                <a:cs typeface="Calibri"/>
              </a:rPr>
              <a:t>Área:</a:t>
            </a:r>
            <a:r>
              <a:rPr sz="1500" spc="-5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lang="es-ES" sz="1500" spc="-20" dirty="0" err="1">
                <a:solidFill>
                  <a:srgbClr val="A8C2D0"/>
                </a:solidFill>
                <a:latin typeface="Calibri"/>
                <a:cs typeface="Calibri"/>
              </a:rPr>
              <a:t>LGd</a:t>
            </a:r>
            <a:r>
              <a:rPr sz="1500" dirty="0">
                <a:solidFill>
                  <a:srgbClr val="A8C2D0"/>
                </a:solidFill>
                <a:latin typeface="Calibri"/>
                <a:cs typeface="Calibri"/>
              </a:rPr>
              <a:t>	</a:t>
            </a:r>
            <a:r>
              <a:rPr sz="1500" spc="-50" dirty="0">
                <a:solidFill>
                  <a:srgbClr val="A8C2D0"/>
                </a:solidFill>
                <a:latin typeface="Calibri"/>
                <a:cs typeface="Calibri"/>
              </a:rPr>
              <a:t>·</a:t>
            </a:r>
            <a:r>
              <a:rPr sz="1500" dirty="0">
                <a:solidFill>
                  <a:srgbClr val="A8C2D0"/>
                </a:solidFill>
                <a:latin typeface="Calibri"/>
                <a:cs typeface="Calibri"/>
              </a:rPr>
              <a:t>	5</a:t>
            </a:r>
            <a:r>
              <a:rPr sz="1500" spc="-10" dirty="0">
                <a:solidFill>
                  <a:srgbClr val="A8C2D0"/>
                </a:solidFill>
                <a:latin typeface="Calibri"/>
                <a:cs typeface="Calibri"/>
              </a:rPr>
              <a:t> ratones</a:t>
            </a:r>
            <a:r>
              <a:rPr sz="1500" dirty="0">
                <a:solidFill>
                  <a:srgbClr val="A8C2D0"/>
                </a:solidFill>
                <a:latin typeface="Calibri"/>
                <a:cs typeface="Calibri"/>
              </a:rPr>
              <a:t>	</a:t>
            </a:r>
            <a:r>
              <a:rPr sz="1500" spc="-50" dirty="0">
                <a:solidFill>
                  <a:srgbClr val="A8C2D0"/>
                </a:solidFill>
                <a:latin typeface="Calibri"/>
                <a:cs typeface="Calibri"/>
              </a:rPr>
              <a:t>·</a:t>
            </a:r>
            <a:r>
              <a:rPr sz="1500" dirty="0">
                <a:solidFill>
                  <a:srgbClr val="A8C2D0"/>
                </a:solidFill>
                <a:latin typeface="Calibri"/>
                <a:cs typeface="Calibri"/>
              </a:rPr>
              <a:t>	</a:t>
            </a:r>
            <a:r>
              <a:rPr lang="es-ES" sz="1500" dirty="0">
                <a:solidFill>
                  <a:srgbClr val="A8C2D0"/>
                </a:solidFill>
                <a:latin typeface="Calibri"/>
                <a:cs typeface="Calibri"/>
              </a:rPr>
              <a:t>301</a:t>
            </a:r>
            <a:r>
              <a:rPr sz="150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A8C2D0"/>
                </a:solidFill>
                <a:latin typeface="Calibri"/>
                <a:cs typeface="Calibri"/>
              </a:rPr>
              <a:t>neuronas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0812" y="1418611"/>
            <a:ext cx="3432810" cy="426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59585">
              <a:lnSpc>
                <a:spcPct val="101200"/>
              </a:lnSpc>
              <a:spcBef>
                <a:spcPts val="95"/>
              </a:spcBef>
            </a:pP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De</a:t>
            </a:r>
            <a:r>
              <a:rPr sz="1300" spc="-1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la</a:t>
            </a:r>
            <a:r>
              <a:rPr sz="1300" spc="-1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neurona</a:t>
            </a:r>
            <a:r>
              <a:rPr sz="1300" spc="-1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a</a:t>
            </a:r>
            <a:r>
              <a:rPr sz="1300" spc="-1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la</a:t>
            </a:r>
            <a:r>
              <a:rPr sz="1300" spc="-10" dirty="0">
                <a:solidFill>
                  <a:srgbClr val="A8C2D0"/>
                </a:solidFill>
                <a:latin typeface="Calibri"/>
                <a:cs typeface="Calibri"/>
              </a:rPr>
              <a:t> figura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Análisis</a:t>
            </a:r>
            <a:r>
              <a:rPr sz="1300" spc="-2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neuronal</a:t>
            </a:r>
            <a:r>
              <a:rPr sz="1300" spc="-2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en</a:t>
            </a:r>
            <a:r>
              <a:rPr sz="1300" spc="-25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insectos</a:t>
            </a:r>
            <a:r>
              <a:rPr sz="1300" spc="-15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asistido</a:t>
            </a:r>
            <a:r>
              <a:rPr sz="1300" spc="-25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por</a:t>
            </a:r>
            <a:r>
              <a:rPr sz="1300" spc="-2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IA</a:t>
            </a:r>
            <a:r>
              <a:rPr sz="1300" spc="-20" dirty="0">
                <a:solidFill>
                  <a:srgbClr val="A8C2D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C2D0"/>
                </a:solidFill>
                <a:latin typeface="Calibri"/>
                <a:cs typeface="Calibri"/>
              </a:rPr>
              <a:t>·</a:t>
            </a:r>
            <a:r>
              <a:rPr sz="1300" spc="-20" dirty="0">
                <a:solidFill>
                  <a:srgbClr val="A8C2D0"/>
                </a:solidFill>
                <a:latin typeface="Calibri"/>
                <a:cs typeface="Calibri"/>
              </a:rPr>
              <a:t> 2026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0070" y="2447855"/>
            <a:ext cx="6399530" cy="6003996"/>
            <a:chOff x="515205" y="2447854"/>
            <a:chExt cx="6399530" cy="4509770"/>
          </a:xfrm>
        </p:grpSpPr>
        <p:sp>
          <p:nvSpPr>
            <p:cNvPr id="7" name="object 7"/>
            <p:cNvSpPr/>
            <p:nvPr/>
          </p:nvSpPr>
          <p:spPr>
            <a:xfrm>
              <a:off x="515205" y="2447854"/>
              <a:ext cx="6399530" cy="4509770"/>
            </a:xfrm>
            <a:custGeom>
              <a:avLst/>
              <a:gdLst/>
              <a:ahLst/>
              <a:cxnLst/>
              <a:rect l="l" t="t" r="r" b="b"/>
              <a:pathLst>
                <a:path w="6399530" h="4509770">
                  <a:moveTo>
                    <a:pt x="6399038" y="0"/>
                  </a:moveTo>
                  <a:lnTo>
                    <a:pt x="0" y="0"/>
                  </a:lnTo>
                  <a:lnTo>
                    <a:pt x="0" y="4509338"/>
                  </a:lnTo>
                  <a:lnTo>
                    <a:pt x="3199605" y="4509338"/>
                  </a:lnTo>
                  <a:lnTo>
                    <a:pt x="6399038" y="4509338"/>
                  </a:lnTo>
                  <a:lnTo>
                    <a:pt x="6399038" y="0"/>
                  </a:lnTo>
                  <a:close/>
                </a:path>
              </a:pathLst>
            </a:custGeom>
            <a:solidFill>
              <a:srgbClr val="F4F2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5205" y="2448021"/>
              <a:ext cx="6399530" cy="494030"/>
            </a:xfrm>
            <a:custGeom>
              <a:avLst/>
              <a:gdLst/>
              <a:ahLst/>
              <a:cxnLst/>
              <a:rect l="l" t="t" r="r" b="b"/>
              <a:pathLst>
                <a:path w="6399530" h="494030">
                  <a:moveTo>
                    <a:pt x="6399038" y="0"/>
                  </a:moveTo>
                  <a:lnTo>
                    <a:pt x="0" y="0"/>
                  </a:lnTo>
                  <a:lnTo>
                    <a:pt x="0" y="493731"/>
                  </a:lnTo>
                  <a:lnTo>
                    <a:pt x="3199605" y="493731"/>
                  </a:lnTo>
                  <a:lnTo>
                    <a:pt x="6399038" y="493731"/>
                  </a:lnTo>
                  <a:lnTo>
                    <a:pt x="6399038" y="0"/>
                  </a:lnTo>
                  <a:close/>
                </a:path>
              </a:pathLst>
            </a:custGeom>
            <a:solidFill>
              <a:srgbClr val="2E6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0070" y="2447854"/>
            <a:ext cx="6399530" cy="5962210"/>
          </a:xfrm>
          <a:prstGeom prst="rect">
            <a:avLst/>
          </a:prstGeom>
          <a:ln w="5917">
            <a:noFill/>
          </a:ln>
        </p:spPr>
        <p:txBody>
          <a:bodyPr vert="horz" wrap="square" lIns="0" tIns="104775" rIns="0" bIns="0" rtlCol="0">
            <a:spAutoFit/>
          </a:bodyPr>
          <a:lstStyle/>
          <a:p>
            <a:pPr marL="234950" algn="just">
              <a:lnSpc>
                <a:spcPct val="100000"/>
              </a:lnSpc>
              <a:spcBef>
                <a:spcPts val="825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Métodos</a:t>
            </a:r>
            <a:endParaRPr sz="185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endParaRPr sz="1850" dirty="0">
              <a:latin typeface="Calibri"/>
              <a:cs typeface="Calibri"/>
            </a:endParaRPr>
          </a:p>
          <a:p>
            <a:pPr marL="278130" marR="309245" algn="just">
              <a:lnSpc>
                <a:spcPct val="126499"/>
              </a:lnSpc>
            </a:pP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Se utilizaron registros extracelulares del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LGd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de 5 ratones despiertos (una sesión por ratón; 301 neuronas) mediante sondas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Neuropixels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y clasificados con Kilosort2 por Allen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Institute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(Visual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Coding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Neuropixels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). Las neuronas usadas estaban filtradas por calidad, cada una se analizó solo con ensayos de su propio ratón.</a:t>
            </a:r>
          </a:p>
          <a:p>
            <a:pPr marL="278130" marR="309245" algn="just">
              <a:lnSpc>
                <a:spcPct val="126499"/>
              </a:lnSpc>
            </a:pP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La tasa evocada se contó de 0 a 2s, excluyendo barridos en blanco; la basal se tomó de trozos de 2s de pantalla gris, y se calculó el Z-score. Para las rejillas en movimiento se usó la combinación preferida de cada neurona (8 direcciones × 5 frecuencias temporales). Para la comparación 1 vs 15 Hz se usó la dirección preferida dentro de cada frecuencia. Para los estímulos de 0,25s (Fig. 2C), la basal se midió en ventanas de 0,25s. Una neurona se consideró respondedora con Z ≥ 2,5, el umbral común del curso. La inspección de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rasters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mostró falsos negativos cerca del umbral (3 de 4 neuronas con Z entre 1,5 y 1,9 parecían responder), por lo que las fracciones son conservadoras. </a:t>
            </a:r>
          </a:p>
          <a:p>
            <a:pPr marL="278130" marR="309245" algn="just">
              <a:lnSpc>
                <a:spcPct val="126499"/>
              </a:lnSpc>
            </a:pP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El IC 95 % se obtuvo por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bootstrap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jerárquico con 10 000 réplicas,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remuestreando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en orden ratones, neuronas dentro de cada ratón y ensayos dentro de cada neurona, y recalculando el Z en cada réplica. El valor p se calculó por permutación pareada a nivel de neurona (10 000 permutaciones, intercambiando 1 Hz y 15 Hz dentro de cada neurona). El d de Cohen se calculó a nivel de ratón (n = 5). Como comparación, se calcularon IC por t-test ignorando al ratón. El análisis se hizo en Python (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NumPy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, pandas y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Matplotlib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) en Google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Colab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.</a:t>
            </a:r>
          </a:p>
          <a:p>
            <a:pPr marL="278130" marR="309245" algn="just">
              <a:lnSpc>
                <a:spcPct val="126499"/>
              </a:lnSpc>
            </a:pP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Datos citados.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Siegle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JH et al. (2021).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Survey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of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spiking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in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the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mouse visual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system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reveals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functional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hierarchy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.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Nature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592, 86–92.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330513" y="13709650"/>
            <a:ext cx="6343109" cy="11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1300" dirty="0">
                <a:solidFill>
                  <a:srgbClr val="1A2633"/>
                </a:solidFill>
                <a:latin typeface="Calibri"/>
                <a:cs typeface="Calibri"/>
              </a:rPr>
              <a:t>Figura</a:t>
            </a:r>
            <a:r>
              <a:rPr sz="1300" spc="-20" dirty="0">
                <a:solidFill>
                  <a:srgbClr val="1A263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2633"/>
                </a:solidFill>
                <a:latin typeface="Calibri"/>
                <a:cs typeface="Calibri"/>
              </a:rPr>
              <a:t>2.</a:t>
            </a:r>
            <a:r>
              <a:rPr sz="1300" spc="-25" dirty="0">
                <a:solidFill>
                  <a:srgbClr val="1A2633"/>
                </a:solidFill>
                <a:latin typeface="Calibri"/>
                <a:cs typeface="Calibri"/>
              </a:rPr>
              <a:t> </a:t>
            </a:r>
            <a:r>
              <a:rPr lang="es-ES" sz="1300" spc="-25" dirty="0">
                <a:solidFill>
                  <a:srgbClr val="1A2633"/>
                </a:solidFill>
                <a:latin typeface="Calibri"/>
                <a:cs typeface="Calibri"/>
              </a:rPr>
              <a:t>Población. (A) PSTH poblacional, respuesta conjunta a rejillas en movimiento. (B) PSTH poblacional por clase de estímulo. (C) Mapa de calor por estímulo de rejillas en movimiento y estáticas según Z-score y actividad basal. (D) Enjambre de z-score por frecuencia temporal (1 Hz y 15 Hz). (E) Diferencia entre fracciones de neuronas respondedoras de acuerdo a la frecuencia temporal con IC 95% por </a:t>
            </a:r>
            <a:r>
              <a:rPr lang="es-ES" sz="1300" spc="-25" dirty="0" err="1">
                <a:solidFill>
                  <a:srgbClr val="1A2633"/>
                </a:solidFill>
                <a:latin typeface="Calibri"/>
                <a:cs typeface="Calibri"/>
              </a:rPr>
              <a:t>bootstrapping</a:t>
            </a:r>
            <a:r>
              <a:rPr lang="es-ES" sz="1300" spc="-25" dirty="0">
                <a:solidFill>
                  <a:srgbClr val="1A2633"/>
                </a:solidFill>
                <a:latin typeface="Calibri"/>
                <a:cs typeface="Calibri"/>
              </a:rPr>
              <a:t> jerárquico y valor-p por permutación pareada.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6400" y="18806493"/>
            <a:ext cx="6477000" cy="6943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1300" dirty="0">
                <a:solidFill>
                  <a:srgbClr val="1A2633"/>
                </a:solidFill>
                <a:latin typeface="Calibri"/>
                <a:cs typeface="Calibri"/>
              </a:rPr>
              <a:t>Figura</a:t>
            </a:r>
            <a:r>
              <a:rPr sz="1300" spc="-15" dirty="0">
                <a:solidFill>
                  <a:srgbClr val="1A263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2633"/>
                </a:solidFill>
                <a:latin typeface="Calibri"/>
                <a:cs typeface="Calibri"/>
              </a:rPr>
              <a:t>1.</a:t>
            </a:r>
            <a:r>
              <a:rPr sz="1300" spc="-20" dirty="0">
                <a:solidFill>
                  <a:srgbClr val="1A2633"/>
                </a:solidFill>
                <a:latin typeface="Calibri"/>
                <a:cs typeface="Calibri"/>
              </a:rPr>
              <a:t> </a:t>
            </a:r>
            <a:r>
              <a:rPr lang="es-ES" sz="1300" dirty="0">
                <a:solidFill>
                  <a:srgbClr val="1A2633"/>
                </a:solidFill>
                <a:latin typeface="Calibri"/>
                <a:cs typeface="Calibri"/>
              </a:rPr>
              <a:t>Diseño y ejemplos. (A) Diseño experimental en área visual </a:t>
            </a:r>
            <a:r>
              <a:rPr lang="es-ES" sz="1300" dirty="0" err="1">
                <a:solidFill>
                  <a:srgbClr val="1A2633"/>
                </a:solidFill>
                <a:latin typeface="Calibri"/>
                <a:cs typeface="Calibri"/>
              </a:rPr>
              <a:t>LGd</a:t>
            </a:r>
            <a:r>
              <a:rPr lang="es-ES" sz="1300" dirty="0">
                <a:solidFill>
                  <a:srgbClr val="1A2633"/>
                </a:solidFill>
                <a:latin typeface="Calibri"/>
                <a:cs typeface="Calibri"/>
              </a:rPr>
              <a:t>. (B) Comparación frecuencia temporal 1 vs 15 Hz. (C) Forma de onda promedio en 7 canales de la neurona 98. (D) </a:t>
            </a:r>
            <a:r>
              <a:rPr lang="es-ES" sz="1300" dirty="0" err="1">
                <a:solidFill>
                  <a:srgbClr val="1A2633"/>
                </a:solidFill>
                <a:latin typeface="Calibri"/>
                <a:cs typeface="Calibri"/>
              </a:rPr>
              <a:t>Raster</a:t>
            </a:r>
            <a:r>
              <a:rPr lang="es-ES" sz="1300" dirty="0">
                <a:solidFill>
                  <a:srgbClr val="1A2633"/>
                </a:solidFill>
                <a:latin typeface="Calibri"/>
                <a:cs typeface="Calibri"/>
              </a:rPr>
              <a:t> (arriba) y PSTH (abajo) de la neurona 98. Izq. Frecuencia a 1 Hz. Der. Frecuencia a 15 Hz.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92524" y="14966984"/>
            <a:ext cx="6399530" cy="4417212"/>
            <a:chOff x="7300946" y="13743106"/>
            <a:chExt cx="6399530" cy="5583555"/>
          </a:xfrm>
        </p:grpSpPr>
        <p:sp>
          <p:nvSpPr>
            <p:cNvPr id="15" name="object 15"/>
            <p:cNvSpPr/>
            <p:nvPr/>
          </p:nvSpPr>
          <p:spPr>
            <a:xfrm>
              <a:off x="7300946" y="13743106"/>
              <a:ext cx="6399530" cy="5583555"/>
            </a:xfrm>
            <a:custGeom>
              <a:avLst/>
              <a:gdLst/>
              <a:ahLst/>
              <a:cxnLst/>
              <a:rect l="l" t="t" r="r" b="b"/>
              <a:pathLst>
                <a:path w="6399530" h="5583555">
                  <a:moveTo>
                    <a:pt x="6399038" y="0"/>
                  </a:moveTo>
                  <a:lnTo>
                    <a:pt x="0" y="0"/>
                  </a:lnTo>
                  <a:lnTo>
                    <a:pt x="0" y="5583031"/>
                  </a:lnTo>
                  <a:lnTo>
                    <a:pt x="3199605" y="5583031"/>
                  </a:lnTo>
                  <a:lnTo>
                    <a:pt x="6399038" y="5583031"/>
                  </a:lnTo>
                  <a:lnTo>
                    <a:pt x="6399038" y="0"/>
                  </a:lnTo>
                  <a:close/>
                </a:path>
              </a:pathLst>
            </a:custGeom>
            <a:solidFill>
              <a:srgbClr val="F4F2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00946" y="13743273"/>
              <a:ext cx="6399530" cy="494030"/>
            </a:xfrm>
            <a:custGeom>
              <a:avLst/>
              <a:gdLst/>
              <a:ahLst/>
              <a:cxnLst/>
              <a:rect l="l" t="t" r="r" b="b"/>
              <a:pathLst>
                <a:path w="6399530" h="494030">
                  <a:moveTo>
                    <a:pt x="6399038" y="0"/>
                  </a:moveTo>
                  <a:lnTo>
                    <a:pt x="0" y="0"/>
                  </a:lnTo>
                  <a:lnTo>
                    <a:pt x="0" y="493731"/>
                  </a:lnTo>
                  <a:lnTo>
                    <a:pt x="3199605" y="493731"/>
                  </a:lnTo>
                  <a:lnTo>
                    <a:pt x="6399038" y="493731"/>
                  </a:lnTo>
                  <a:lnTo>
                    <a:pt x="6399038" y="0"/>
                  </a:lnTo>
                  <a:close/>
                </a:path>
              </a:pathLst>
            </a:custGeom>
            <a:solidFill>
              <a:srgbClr val="2E6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92524" y="14953463"/>
            <a:ext cx="6144076" cy="4391587"/>
          </a:xfrm>
          <a:prstGeom prst="rect">
            <a:avLst/>
          </a:prstGeom>
          <a:ln w="5917">
            <a:noFill/>
          </a:ln>
        </p:spPr>
        <p:txBody>
          <a:bodyPr vert="horz" wrap="square" lIns="0" tIns="104775" rIns="0" bIns="0" rtlCol="0">
            <a:spAutoFit/>
          </a:bodyPr>
          <a:lstStyle/>
          <a:p>
            <a:pPr marL="234950" algn="just">
              <a:lnSpc>
                <a:spcPct val="100000"/>
              </a:lnSpc>
              <a:spcBef>
                <a:spcPts val="825"/>
              </a:spcBef>
            </a:pP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Resultados</a:t>
            </a:r>
            <a:endParaRPr sz="1850" dirty="0">
              <a:latin typeface="Calibri"/>
              <a:cs typeface="Calibri"/>
            </a:endParaRPr>
          </a:p>
          <a:p>
            <a:pPr marL="278130" algn="just">
              <a:spcBef>
                <a:spcPts val="5"/>
              </a:spcBef>
            </a:pPr>
            <a:endParaRPr lang="es-ES" sz="1300" i="1" dirty="0">
              <a:solidFill>
                <a:srgbClr val="79838B"/>
              </a:solidFill>
              <a:latin typeface="Calibri"/>
              <a:cs typeface="Calibri"/>
            </a:endParaRPr>
          </a:p>
          <a:p>
            <a:pPr marL="278130" algn="just">
              <a:spcBef>
                <a:spcPts val="5"/>
              </a:spcBef>
            </a:pP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El núcleo geniculado lateral dorsal (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LGd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) es el relevo talámico entre la retina y la corteza visual primaria, y sus neuronas codifican rasgos visuales diversos, entre ellos la frecuencia temporal (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Piscopo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et al., 2013). Preguntamos qué fracción de neuronas del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LGd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responde a rejillas en movimiento y si esa fracción es mayor a 15 Hz que a 1 Hz.</a:t>
            </a:r>
          </a:p>
          <a:p>
            <a:pPr marL="278130" algn="just">
              <a:spcBef>
                <a:spcPts val="5"/>
              </a:spcBef>
            </a:pPr>
            <a:endParaRPr lang="es-ES" sz="1300" i="1" dirty="0">
              <a:solidFill>
                <a:srgbClr val="79838B"/>
              </a:solidFill>
              <a:latin typeface="Calibri"/>
              <a:cs typeface="Calibri"/>
            </a:endParaRPr>
          </a:p>
          <a:p>
            <a:pPr marL="278130" algn="just">
              <a:spcBef>
                <a:spcPts val="5"/>
              </a:spcBef>
            </a:pP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Usando la condición preferida de cada neurona, el 11,6 % (35/301; IC 95% jerárquico: 5,0–29,8 %) respondió a las rejillas en movimiento frente a la actividad espontánea (Z ≥ 2,5), con gran variación entre ratones (0–30,5 %). Un intervalo que ignora al ratón (t-test) fue 3,4 veces más estrecho (8,0–15,3 %). En la dirección preferida, respondió el 4,7 % a 1 Hz (IC: 1,4–13,2 %) y el 6,0 % a 15 Hz (IC: 2,5–14,5 %). La diferencia (+1,3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pp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; IC: −2,1 a 5,2; p = 0,45, permutación; d = 0,68) apareció solo en 2 de 5 ratones. Entre las respondedoras, 15 Hz fue la frecuencia preferida más común (13/35). La población mostró respuestas transitorias de encendido y apagado (Fig. 2B).</a:t>
            </a:r>
          </a:p>
          <a:p>
            <a:pPr marL="278130" algn="just">
              <a:spcBef>
                <a:spcPts val="5"/>
              </a:spcBef>
            </a:pPr>
            <a:endParaRPr lang="es-ES" sz="1300" i="1" dirty="0">
              <a:solidFill>
                <a:srgbClr val="79838B"/>
              </a:solidFill>
              <a:latin typeface="Calibri"/>
              <a:cs typeface="Calibri"/>
            </a:endParaRPr>
          </a:p>
          <a:p>
            <a:pPr marL="278130" algn="just">
              <a:spcBef>
                <a:spcPts val="5"/>
              </a:spcBef>
            </a:pP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Concluimos que el </a:t>
            </a:r>
            <a:r>
              <a:rPr lang="es-ES" sz="1300" i="1" dirty="0" err="1">
                <a:solidFill>
                  <a:srgbClr val="79838B"/>
                </a:solidFill>
                <a:latin typeface="Calibri"/>
                <a:cs typeface="Calibri"/>
              </a:rPr>
              <a:t>LGd</a:t>
            </a:r>
            <a:r>
              <a:rPr lang="es-ES" sz="1300" i="1" dirty="0">
                <a:solidFill>
                  <a:srgbClr val="79838B"/>
                </a:solidFill>
                <a:latin typeface="Calibri"/>
                <a:cs typeface="Calibri"/>
              </a:rPr>
              <a:t> muestra una tendencia a favor de 15 Hz, consistente con la predicción, pero no distinguible de cero. La limitación principal es la baja potencia: cinco ratones, pocas respondedoras y un umbral conservador que subestima la fracción respondedora.</a:t>
            </a:r>
          </a:p>
          <a:p>
            <a:pPr marL="278130" algn="just">
              <a:lnSpc>
                <a:spcPct val="100000"/>
              </a:lnSpc>
              <a:spcBef>
                <a:spcPts val="5"/>
              </a:spcBef>
            </a:pPr>
            <a:endParaRPr lang="es-ES" sz="1300" i="1" dirty="0">
              <a:solidFill>
                <a:srgbClr val="79838B"/>
              </a:solidFill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19695762"/>
            <a:ext cx="14220190" cy="408305"/>
          </a:xfrm>
          <a:custGeom>
            <a:avLst/>
            <a:gdLst/>
            <a:ahLst/>
            <a:cxnLst/>
            <a:rect l="l" t="t" r="r" b="b"/>
            <a:pathLst>
              <a:path w="14220190" h="408305">
                <a:moveTo>
                  <a:pt x="14219753" y="0"/>
                </a:moveTo>
                <a:lnTo>
                  <a:pt x="0" y="0"/>
                </a:lnTo>
                <a:lnTo>
                  <a:pt x="0" y="407830"/>
                </a:lnTo>
                <a:lnTo>
                  <a:pt x="7109876" y="407830"/>
                </a:lnTo>
                <a:lnTo>
                  <a:pt x="14219753" y="407830"/>
                </a:lnTo>
                <a:lnTo>
                  <a:pt x="14219753" y="0"/>
                </a:lnTo>
                <a:close/>
              </a:path>
            </a:pathLst>
          </a:custGeom>
          <a:solidFill>
            <a:srgbClr val="1E4D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CDAFBAF-B411-4CBC-869D-5D6B0EB036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29"/>
          <a:stretch/>
        </p:blipFill>
        <p:spPr>
          <a:xfrm>
            <a:off x="272000" y="8562005"/>
            <a:ext cx="6772236" cy="1004957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14BDBF86-309F-4383-A0CB-81F60B82ED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92"/>
          <a:stretch/>
        </p:blipFill>
        <p:spPr>
          <a:xfrm>
            <a:off x="7264400" y="2296904"/>
            <a:ext cx="6858000" cy="114127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</TotalTime>
  <Words>820</Words>
  <Application>Microsoft Office PowerPoint</Application>
  <PresentationFormat>Personalizado</PresentationFormat>
  <Paragraphs>20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Calibri</vt:lpstr>
      <vt:lpstr>Office Theme</vt:lpstr>
      <vt:lpstr>Respuesta del área visual LGd en ratones a estímulos de diferente frecuencia temporal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 Tatiana Corrales Roa</cp:lastModifiedBy>
  <cp:revision>11</cp:revision>
  <dcterms:created xsi:type="dcterms:W3CDTF">2026-09-25T15:48:27Z</dcterms:created>
  <dcterms:modified xsi:type="dcterms:W3CDTF">2026-09-25T20:27:01Z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2026-09-14T00:00:00Z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2026-09-14T00:00:00Z</vt:filetime>
  </property>
</Properties>
</file>